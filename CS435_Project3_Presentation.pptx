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23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X-Ray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28346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 + GAN-Based Minority Class Augmentation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3401568"/>
            <a:ext cx="5943600" cy="0"/>
          </a:xfrm>
          <a:prstGeom prst="line">
            <a:avLst/>
          </a:prstGeom>
          <a:noFill/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356616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Suvam Patel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435 — Applied Deep Learning  |  Oregon State University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Ami Gates  |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352044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X-rays taken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each 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51760" cy="352044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0" y="265176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world lacks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radiology coverage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352044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50876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: 1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035040" y="265176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Finding vs. Cardiomegaly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the Training Set</a:t>
            </a:r>
            <a:endParaRPr lang="en-US" sz="3200" dirty="0"/>
          </a:p>
        </p:txBody>
      </p:sp>
      <p:pic>
        <p:nvPicPr>
          <p:cNvPr id="5" name="Image 0" descr="/home/claude/fig6_class_distribution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841248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Cardiomegaly: 98 real images (47:1 imbalance)  |  Pneumonia: 45 real images (22:1 imbalance)  |  GAN augmentation raised both to 2,000+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Two-Part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5661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402336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1–2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classifier 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rare classes.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35808" y="2542032"/>
            <a:ext cx="5029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241401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51760" cy="35661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651760" cy="402336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188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682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233172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GAN to synthesize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X-rays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classes.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70448" y="2542032"/>
            <a:ext cx="5029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241401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651760" cy="35661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188720"/>
            <a:ext cx="2651760" cy="402336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1188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4–5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16824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CNN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233172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same CNN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+ synthetic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 Compare results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training data changes between Phase 2 and Phase 4 — ensuring a controlled, valid comparison.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Chest X-Ray14 Sample 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01168" cy="566928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179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nih-chest-xrays/sample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(CC0-1.0 license)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01168" cy="566928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929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194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5,606 grayscale PNG images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1024×1024 → Resized: 224×224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201168" cy="566928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679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944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Pipe-separated string per image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into 5-column one-hot encoding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201168" cy="566928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6941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on No Finding column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69664"/>
            <a:ext cx="201168" cy="566928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4178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443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images only — never modified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evaluation on genuine unseen data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1115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08760"/>
            <a:ext cx="347472" cy="5029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50876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1536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17647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bytes from disk with tf.io.read_file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167128"/>
            <a:ext cx="347472" cy="5029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167128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85232" y="21945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2423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tf.image.decode_image — handles PNG &amp; JPEG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25496"/>
            <a:ext cx="347472" cy="5029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2825496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85232" y="28529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85232" y="30815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 interpolation → 224×224 pixels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483864"/>
            <a:ext cx="347472" cy="5029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83864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85232" y="3511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37398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to float32, divide by 255 → [0.0, 1.0]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142232"/>
            <a:ext cx="347472" cy="50292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4142232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85232" y="4169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4398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tf.data: shuffle → batch(32) → prefetch(AUTOTUNE)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Classifier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161288" cy="2514600"/>
          </a:xfrm>
          <a:prstGeom prst="rect">
            <a:avLst/>
          </a:prstGeom>
          <a:solidFill>
            <a:srgbClr val="1B5E2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26464" y="23820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08760" y="1261872"/>
            <a:ext cx="1161288" cy="2514600"/>
          </a:xfrm>
          <a:prstGeom prst="rect">
            <a:avLst/>
          </a:prstGeom>
          <a:solidFill>
            <a:srgbClr val="0D47A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Conv2D(32)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Dropout(0.25)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60904" y="23820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261872"/>
            <a:ext cx="1161288" cy="2514600"/>
          </a:xfrm>
          <a:prstGeom prst="rect">
            <a:avLst/>
          </a:prstGeom>
          <a:solidFill>
            <a:srgbClr val="0D47A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Conv2D(64)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Dropout(0.25)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95344" y="23820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1261872"/>
            <a:ext cx="1161288" cy="2514600"/>
          </a:xfrm>
          <a:prstGeom prst="rect">
            <a:avLst/>
          </a:prstGeom>
          <a:solidFill>
            <a:srgbClr val="0D47A1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7764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Conv2D(128)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Dropout(0.25)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9784" y="23820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261872"/>
            <a:ext cx="1161288" cy="2514600"/>
          </a:xfrm>
          <a:prstGeom prst="rect">
            <a:avLst/>
          </a:prstGeom>
          <a:solidFill>
            <a:srgbClr val="4A14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64224" y="23820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1261872"/>
            <a:ext cx="1161288" cy="2514600"/>
          </a:xfrm>
          <a:prstGeom prst="rect">
            <a:avLst/>
          </a:prstGeom>
          <a:solidFill>
            <a:srgbClr val="4A14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Dropout(0.5)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98664" y="23820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1261872"/>
            <a:ext cx="1161288" cy="2514600"/>
          </a:xfrm>
          <a:prstGeom prst="rect">
            <a:avLst/>
          </a:prstGeom>
          <a:solidFill>
            <a:srgbClr val="B71C1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80960" y="1261872"/>
            <a:ext cx="116128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Dense(5)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9867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output: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9867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(not softmax) — patients can have multiple conditions simultaneously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334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433425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— each class treated as an independent binary problem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81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46817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(patience=5)  |  ModelCheckpoint  |  ReduceLROnPlateau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520440"/>
          </a:xfrm>
          <a:prstGeom prst="rect">
            <a:avLst/>
          </a:prstGeom>
          <a:solidFill>
            <a:srgbClr val="162535"/>
          </a:solidFill>
          <a:ln w="1905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840480" cy="384048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5661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vector (100,)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Dense(256×4×4)  →  Reshape(4,4,256)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Conv2DTranspose ×4  (stride=2)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 → 8 → 16 → 32 → 64 pixels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Conv2D(tanh)  →  64×64 image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LeakyReLU after each block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[-1, 1]  (tanh)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840480" cy="3520440"/>
          </a:xfrm>
          <a:prstGeom prst="rect">
            <a:avLst/>
          </a:prstGeom>
          <a:solidFill>
            <a:srgbClr val="162535"/>
          </a:solidFill>
          <a:ln w="190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3840480" cy="38404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DISCRIMINATOR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664208"/>
            <a:ext cx="35661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image  (real or fake)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Conv2D(64, stride=2)  +  LeakyReLU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Conv2D(128, stride=2)  +  BN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Conv2D(256, stride=2)  +  BN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Flatten  →  Dropout(0.4)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Dense(1, sigmoid)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 = real  |  0 = fake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24528" y="2606040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GAN trained per minority class  |  200 epochs  |  2,000 synthetic images per class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Results by Class</a:t>
            </a:r>
            <a:endParaRPr lang="en-US" sz="3200" dirty="0"/>
          </a:p>
        </p:txBody>
      </p:sp>
      <p:pic>
        <p:nvPicPr>
          <p:cNvPr id="5" name="Image 0" descr="/home/claude/fig1_auc_comparison_ba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841248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measures ranking quality across all thresholds — preferred over accuracy on imbalanced multi-label data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Heatmap &amp; Results Scorecard</a:t>
            </a:r>
            <a:endParaRPr lang="en-US" sz="3200" dirty="0"/>
          </a:p>
        </p:txBody>
      </p:sp>
      <p:pic>
        <p:nvPicPr>
          <p:cNvPr id="5" name="Image 0" descr="/home/claude/fig3_delta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663440" cy="2377440"/>
          </a:xfrm>
          <a:prstGeom prst="rect">
            <a:avLst/>
          </a:prstGeom>
        </p:spPr>
      </p:pic>
      <p:pic>
        <p:nvPicPr>
          <p:cNvPr id="6" name="Image 1" descr="/home/claude/fig7_results_scorecar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83480" y="1097280"/>
            <a:ext cx="3840480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3611880"/>
            <a:ext cx="269748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65760" y="36576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39776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+0.096 AUC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5760" y="4434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improvement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27832" y="3611880"/>
            <a:ext cx="269748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227832" y="36576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27832" y="39776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−0.041 AUC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227832" y="4434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GAN data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3611880"/>
            <a:ext cx="269748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089904" y="36576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89904" y="397764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+0.011 AUC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089904" y="44348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 positive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F1/Precision/Recall deltas near zero reflect threshold sensitivity on imbalanced data — not a model failure. AUC is the correct primary metric.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TAKEAWAYS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1188720"/>
            <a:ext cx="7818120" cy="1051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quality depends on real data quantity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27632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 improved (+0.096) because the GAN had 98 real images to learn from. Pneumonia declined because it had only 45 — not enough to produce realistic, diverse synthetic X-rays.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502920" cy="105156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0120" y="2450592"/>
            <a:ext cx="7818120" cy="1051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523744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evaluation metric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89504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told the real story here. F1 at a fixed threshold of 0.5 collapsed to zero on imbalanced classes — a known limitation of threshold-based metrics, not a model failure.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502920" cy="105156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71246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" y="3712464"/>
            <a:ext cx="7818120" cy="1051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3785616"/>
            <a:ext cx="7635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experiments require one variable change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151376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architecture, optimizer, loss function, and test set across both phases means any performance difference is directly attributable to the training data change.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17857"/>
            </a:avLst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CONCLUSIONS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8EA6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demonstrated: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4069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augmentation can improve rare disease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depends on generator quality and data size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AUC improved despite mixed per-class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5-phase pipeline built and validated end-to-end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full NIH dataset (112,000+ images)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GAN training to 500+ epochs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conditional GAN architectures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clinical triage screening 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730752"/>
            <a:ext cx="8366760" cy="1051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B8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81838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radiologists — a triage tool that extends specialist expertise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under-resourced communities where access to diagnostic care is most limited.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876</Words>
  <Application>Microsoft Macintosh PowerPoint</Application>
  <PresentationFormat>On-screen Show (16:9)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X-Ray Anomaly Detection</dc:title>
  <dc:subject>PptxGenJS Presentation</dc:subject>
  <dc:creator>Suvam Patel</dc:creator>
  <cp:lastModifiedBy>Patel, Suvam</cp:lastModifiedBy>
  <cp:revision>2</cp:revision>
  <dcterms:created xsi:type="dcterms:W3CDTF">2026-06-03T02:28:32Z</dcterms:created>
  <dcterms:modified xsi:type="dcterms:W3CDTF">2026-06-03T02:46:00Z</dcterms:modified>
</cp:coreProperties>
</file>